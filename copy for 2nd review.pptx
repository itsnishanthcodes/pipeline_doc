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3"/>
    <p:sldId id="257" r:id="rId4"/>
    <p:sldId id="263" r:id="rId5"/>
    <p:sldId id="288" r:id="rId6"/>
    <p:sldId id="283" r:id="rId7"/>
    <p:sldId id="280" r:id="rId8"/>
    <p:sldId id="285" r:id="rId9"/>
    <p:sldId id="286" r:id="rId10"/>
    <p:sldId id="289" r:id="rId11"/>
    <p:sldId id="287" r:id="rId12"/>
    <p:sldId id="290" r:id="rId13"/>
    <p:sldId id="266" r:id="rId14"/>
    <p:sldId id="267" r:id="rId15"/>
    <p:sldId id="271" r:id="rId16"/>
    <p:sldId id="269" r:id="rId17"/>
    <p:sldId id="28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026" autoAdjust="0"/>
  </p:normalViewPr>
  <p:slideViewPr>
    <p:cSldViewPr snapToGrid="0">
      <p:cViewPr varScale="1">
        <p:scale>
          <a:sx n="98" d="100"/>
          <a:sy n="98" d="100"/>
        </p:scale>
        <p:origin x="82" y="3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2FD969-9832-4933-832E-3A58509884D6}" type="datetime1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8A4EF3-5BAA-4FEF-B1AB-E5C02F12A89C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1C05AE-93A3-4AFD-A9F8-FA9153E4848A}" type="datetime1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4E3D55-DAFB-449A-B496-DACDA44C8BA1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F042A-7DEE-4BC2-A0FF-ADE6B0D70D7C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| Dept. of ____ | PWP-I | Batch - X | Zeroth review | 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0B1DD-FB43-4875-9A9A-F692B563926A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| Dept. of ____ | PWP-I | Batch - X | Zeroth review | 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D2B51-34E4-466A-9DC4-485DA9428E6B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| Dept. of ____ | PWP-I | Batch - X | Zeroth review | 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8D1EC-5184-4A40-AF1D-4976D5879B51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| Dept. of ____ | PWP-I | Batch - X | Zeroth review | 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11402-3461-4CA5-9E98-2ADBFAE2CC56}" type="datetime1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| Dept. of ____ | PWP-I | Batch - X | Zeroth review | 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8D6FB-CA85-45CB-8AF7-3E32B0A418BA}" type="datetime1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| Dept. of ____ | PWP-I | Batch - X | Zeroth review | 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34929-D10C-4FF7-B22E-94453B270E5A}" type="datetime1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| Dept. of ____ | PWP-I | Batch - X | Zeroth review | 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089B4-6292-4A47-9E12-57CB7D90954C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| Dept. of ____ | PWP-I | Batch - X | Zeroth review | 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7CCCB-1E5B-49F3-8B55-39F4DD25BDD4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| Dept. of ____ | PWP-I | Batch - X | Zeroth review | 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E7533-3E13-4484-8FD7-475474B2A9F3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| Dept. of ____ | PWP-I | Batch - X | Zeroth review | 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E0536-59C3-4BC6-A11E-C16A5AC7DACE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| Dept. of ____ | PWP-I | Batch - X | Zeroth review | 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D83A66-37C8-449D-B309-E74901CC910B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| Dept. of ____ | PWP-I | Batch - X | Zeroth review | 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AD59B4-4600-4760-A750-CB10E5EDD024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/>
          <p:cNvSpPr txBox="1"/>
          <p:nvPr/>
        </p:nvSpPr>
        <p:spPr>
          <a:xfrm>
            <a:off x="2858729" y="1137293"/>
            <a:ext cx="6474542" cy="4274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IN" sz="2000" b="1" dirty="0">
                <a:solidFill>
                  <a:srgbClr val="002060"/>
                </a:solidFill>
                <a:cs typeface="Times New Roman" panose="02020603050405020304" pitchFamily="18" charset="0"/>
              </a:rPr>
              <a:t>Department of Artificial Intelligence &amp; Data Science</a:t>
            </a:r>
            <a:endParaRPr lang="en-IN" sz="2000" b="1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  <p:sp>
        <p:nvSpPr>
          <p:cNvPr id="6" name="Subtitle 2"/>
          <p:cNvSpPr txBox="1"/>
          <p:nvPr/>
        </p:nvSpPr>
        <p:spPr>
          <a:xfrm>
            <a:off x="-3" y="6085020"/>
            <a:ext cx="5309758" cy="7378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Supervisor: </a:t>
            </a:r>
            <a:r>
              <a:rPr lang="en-US" altLang="en-IN" sz="2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alt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STENNI MARTIN</a:t>
            </a:r>
            <a:endParaRPr lang="en-US" altLang="en-IN" sz="2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ubtitle 2"/>
          <p:cNvSpPr txBox="1"/>
          <p:nvPr/>
        </p:nvSpPr>
        <p:spPr>
          <a:xfrm>
            <a:off x="7315200" y="5205046"/>
            <a:ext cx="4876801" cy="165295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 Members:</a:t>
            </a:r>
            <a:endParaRPr lang="en-IN" sz="2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200"/>
              </a:spcBef>
              <a:buAutoNum type="arabicPeriod"/>
            </a:pPr>
            <a:r>
              <a:rPr lang="en-US" altLang="en-IN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NISHANTH A - 727723EUAI079</a:t>
            </a:r>
            <a:endParaRPr lang="en-IN" sz="1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AutoNum type="arabicPeriod"/>
            </a:pPr>
            <a:r>
              <a:rPr lang="en-US" altLang="en-IN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PRANESH J S - 727723EUAI089</a:t>
            </a:r>
            <a:endParaRPr lang="en-IN" sz="1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AutoNum type="arabicPeriod"/>
            </a:pPr>
            <a:r>
              <a:rPr lang="en-US" altLang="en-IN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RAKESH A - 727723EUAI095</a:t>
            </a:r>
            <a:endParaRPr lang="en-US" altLang="en-IN" sz="1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AutoNum type="arabicPeriod"/>
            </a:pPr>
            <a:r>
              <a:rPr lang="en-US" altLang="en-IN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SABARISH S – 727723EUAI102</a:t>
            </a:r>
            <a:endParaRPr lang="en-US" altLang="en-IN" sz="1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ubtitle 2"/>
          <p:cNvSpPr txBox="1"/>
          <p:nvPr/>
        </p:nvSpPr>
        <p:spPr>
          <a:xfrm>
            <a:off x="0" y="5749630"/>
            <a:ext cx="3962399" cy="4453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 No: 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en-US" altLang="en-IN" sz="2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ubtitle 2"/>
          <p:cNvSpPr txBox="1"/>
          <p:nvPr/>
        </p:nvSpPr>
        <p:spPr>
          <a:xfrm>
            <a:off x="-3" y="6453960"/>
            <a:ext cx="3962399" cy="4453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Date: </a:t>
            </a:r>
            <a:r>
              <a:rPr lang="en-IN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/0</a:t>
            </a:r>
            <a:r>
              <a:rPr lang="en-US" altLang="en-IN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IN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/202</a:t>
            </a:r>
            <a:r>
              <a:rPr lang="en-US" altLang="en-IN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IN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IN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FN</a:t>
            </a:r>
            <a:endParaRPr lang="en-US" altLang="en-IN" sz="1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ubtitle 2"/>
          <p:cNvSpPr txBox="1"/>
          <p:nvPr/>
        </p:nvSpPr>
        <p:spPr>
          <a:xfrm>
            <a:off x="2895600" y="2968927"/>
            <a:ext cx="6400800" cy="6882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en-IN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ROOT CAUSE DRIVEN CI/CD PIPELINE AUTOMATION</a:t>
            </a:r>
            <a:endParaRPr lang="en-US" altLang="en-IN" sz="2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ubtitle 2"/>
          <p:cNvSpPr txBox="1"/>
          <p:nvPr/>
        </p:nvSpPr>
        <p:spPr>
          <a:xfrm>
            <a:off x="2895600" y="1902524"/>
            <a:ext cx="6400800" cy="5584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Work Phase – I </a:t>
            </a:r>
            <a:endParaRPr lang="en-IN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1430592" y="254935"/>
            <a:ext cx="9330816" cy="934675"/>
            <a:chOff x="1071716" y="272962"/>
            <a:chExt cx="9330816" cy="934675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1716" y="272962"/>
              <a:ext cx="8377084" cy="9346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50" name="Picture 2" descr="Anna University Logo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439" t="10338" r="20319" b="10894"/>
            <a:stretch>
              <a:fillRect/>
            </a:stretch>
          </p:blipFill>
          <p:spPr bwMode="auto">
            <a:xfrm>
              <a:off x="9571702" y="272962"/>
              <a:ext cx="830830" cy="8291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Subtitle 2"/>
          <p:cNvSpPr txBox="1"/>
          <p:nvPr/>
        </p:nvSpPr>
        <p:spPr>
          <a:xfrm>
            <a:off x="5031658" y="2373462"/>
            <a:ext cx="2128684" cy="5584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Second Review</a:t>
            </a:r>
            <a:endParaRPr lang="en-IN" sz="2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2462" y="211015"/>
            <a:ext cx="10611338" cy="96129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Statement(s)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2462" y="1578708"/>
            <a:ext cx="10611338" cy="4598255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1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the Problem: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1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Organizations run CI/CD pipelines that fail frequently due to flaky tests, config drift, and code regressions, and struggle to keep up with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practice of manual RCA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Manual log analysis to find the root cause is slow, costly, and error-prone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 and Background: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1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microservice-based systems produce huge volumes of build/test logs across many stages and services.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CI/CD tooling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not kept pace with how quickly pipelines and codebases change.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1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Engineers repeatedly re-diagnose recurring or flaky failures by hand, wasting engineering hours.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of the Problem: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Undiagnosed or slowly-diagnosed failures lead to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delayed releases, higher Mean Time to Repair (MTTR), and lost engineering productivity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Teams need an automated solution to continuously detect, diagnose, and fix pipeline failures.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Dept. of AI &amp; DS| PWP-I | Batch - 10 | First review |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19813-2FF0-4B7E-8ABC-F71D45EBE63E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0408" y="0"/>
            <a:ext cx="2121592" cy="62184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63040"/>
            <a:ext cx="10515600" cy="4820920"/>
          </a:xfrm>
        </p:spPr>
        <p:txBody>
          <a:bodyPr>
            <a:normAutofit fontScale="65000"/>
          </a:bodyPr>
          <a:lstStyle/>
          <a:p>
            <a:pPr>
              <a:lnSpc>
                <a:spcPct val="11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Objective: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1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LLM-driven framework that automatically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detects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CI/CD pipeline failures, performs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root cause analysis (RCA)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verified fixes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minimal human intervention</a:t>
            </a:r>
            <a:r>
              <a:rPr lang="en-IN" dirty="0"/>
              <a:t>.</a:t>
            </a:r>
            <a:endParaRPr lang="en-IN" dirty="0"/>
          </a:p>
          <a:p>
            <a:pPr>
              <a:lnSpc>
                <a:spcPct val="11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Secondary Objectives: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1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 failures as flaky (transient) vs. genuine (real fault) using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 signatures and historical patterns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10000"/>
              </a:lnSpc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Perform RCA using structured log context, code/dependency information, and historical failure data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1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automated fix suggestions and verify them via a sandboxed rerun before merge</a:t>
            </a:r>
            <a:r>
              <a:rPr lang="en-IN" dirty="0"/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Measurable Outcomes: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Accuracy: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 at least 85% correct classification of flaky vs. real failures on test pipelines.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Efficiency: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Mean Time to Diagnosis (MTTD) from hours to under 5 minutes per failure — a 90%+ reduction.</a:t>
            </a: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Coverage: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the framework across 30–50 sample CI/CD failure cases drawn from open-source pipelines.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Dept. of AI &amp; DS| PWP-I | Batch - 10 | First review |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71B3C-4187-4AF5-82A3-4053E57F0D06}" type="datetime1">
              <a:rPr lang="en-IN" smtClean="0"/>
            </a:fld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</a:fld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0408" y="0"/>
            <a:ext cx="2121592" cy="62184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 Development and Innovation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76872"/>
            <a:ext cx="11017898" cy="4779477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Review 1 to Review 2: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initial concept — an LLM-driven detect-diagnose-fix loop — has been developed into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concrete layered architecture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defined modules, data stores, and verification gates.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Innovations: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Triage-first design: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flaky/real classification gates expensive RCA effort, unlike existing alerting-only tools.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Structured, not raw, context: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logs, dependency graphs, and historical matches are retrieved and structured before reasoning, avoiding context degradation.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Graph-aware fault localization: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dependency-graph reasoning traces faults across microservice boundaries rather than a single log file.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Sandbox-verified auto-fix: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proposed fixes are never merged on LLM confidence alone — only after a real, isolated rerun passes.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 vs. Existing Tools: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tools (Jenkins Blue Ocean, Datadog CI Visibility, Nx Self-Healing CI) stop at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or suggestion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this framework closes the loop with classification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RCA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verified remediation in one pipeline.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Dept. of AI &amp; DS | PWP-I | Batch - 10 | Second review |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3F001-7C6F-4E01-BC69-D7191FDDFE22}" type="datetime1">
              <a:rPr lang="en-IN" smtClean="0"/>
            </a:fld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</a:fld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0408" y="0"/>
            <a:ext cx="2121592" cy="62184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AEE49-49E5-4D0F-9950-7B0F2EF6B029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| Dept. of AI &amp; DS | PWP-I | Batch - 10 | Second review | </a:t>
            </a:r>
            <a:endParaRPr lang="en-IN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</a:fld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0408" y="0"/>
            <a:ext cx="2121592" cy="621846"/>
          </a:xfrm>
          <a:prstGeom prst="rect">
            <a:avLst/>
          </a:prstGeom>
        </p:spPr>
      </p:pic>
      <p:pic>
        <p:nvPicPr>
          <p:cNvPr id="10" name="Content Placeholder 9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8665" y="1520889"/>
            <a:ext cx="8128519" cy="464674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Diagram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AEE49-49E5-4D0F-9950-7B0F2EF6B029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| Dept. of AI &amp; DS | PWP-I | Batch - 10 | First review | </a:t>
            </a:r>
            <a:endParaRPr lang="en-IN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</a:fld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0408" y="0"/>
            <a:ext cx="2121592" cy="621846"/>
          </a:xfrm>
          <a:prstGeom prst="rect">
            <a:avLst/>
          </a:prstGeom>
        </p:spPr>
      </p:pic>
      <p:pic>
        <p:nvPicPr>
          <p:cNvPr id="15" name="Content Placeholder 1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4" r="774"/>
          <a:stretch>
            <a:fillRect/>
          </a:stretch>
        </p:blipFill>
        <p:spPr>
          <a:xfrm>
            <a:off x="1707502" y="1576873"/>
            <a:ext cx="8789437" cy="46223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76872"/>
            <a:ext cx="11017898" cy="4779477"/>
          </a:xfrm>
        </p:spPr>
        <p:txBody>
          <a:bodyPr>
            <a:normAutofit fontScale="58000" lnSpcReduction="20000"/>
          </a:bodyPr>
          <a:lstStyle/>
          <a:p>
            <a:pPr>
              <a:lnSpc>
                <a:spcPct val="12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Approach: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five-phase pipeline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takes a CI/CD failure from raw logs to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verified, merge-ready fix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 each phase producing structured output consumed by the next.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1 – Data Collection &amp; Preprocessing: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 build/test logs, stack traces, exit codes, and pipeline metadata via webhooks from GitHub Actions/Jenkins.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 and chunk logs, strip noise, and extract structured events (timestamps, stage, error signatures).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2 – Failure Classification: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log/error signatures against historical run patterns to label each failure as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Flaky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before spending RCA effort.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3 – Root Cause Analysis: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real failures, the LLM reasons over structured log context,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dependency graph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similar past incidents to localize the faulty stage/component.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4 – Fix Generation &amp; Verification: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 candidate config/code fix, apply it in an isolated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sandbox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rerun the failed stage to confirm the fix before merge.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5 – Evaluation: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Benchmark against 30–50 labeled open-source pipeline failures for classification accuracy, MTTD, and fix success rate.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Dept. of AI &amp; DS | PWP-I | Batch - 10 | Second review |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3F001-7C6F-4E01-BC69-D7191FDDFE22}" type="datetime1">
              <a:rPr lang="en-IN" smtClean="0"/>
            </a:fld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</a:fld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0408" y="0"/>
            <a:ext cx="2121592" cy="62184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Justification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76872"/>
            <a:ext cx="11017898" cy="4779477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Triage Before RCA: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Classifying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flaky vs. real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first prevents the expensive RCA/LLM pipeline from running on transient failures, cutting wasted compute and engineer attention.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Structured Context, Not Raw Logs: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Feeding raw logs directly into an LLM causes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 rot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large codebases; structured, retrieval-filtered context keeps reasoning focused and accurate.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Dependency-Graph-Aware Reasoning: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Microservice failures often originate in a different service than where they surface — graph-aware reasoning traces the fault across service boundaries instead of one log file.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Sandbox Verification Before Merge: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LLM-proposed fix is only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hypothesis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re-running it in an isolated sandbox is the only way to confirm correctness without risking the main branch.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This Technology Stack: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+ LLM API (Claude) + standard CI/CD tooling (Jenkins/GitHub Actions) keeps the system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and deployable alongside existing pipelines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 no proprietary infrastructure.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Dept. of AI &amp; DS | PWP-I | Batch - 10 | Second review |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3F001-7C6F-4E01-BC69-D7191FDDFE22}" type="datetime1">
              <a:rPr lang="en-IN" smtClean="0"/>
            </a:fld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</a:fld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0408" y="0"/>
            <a:ext cx="2121592" cy="62184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Correctness / Methodology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76872"/>
            <a:ext cx="11017898" cy="4779477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Grounded Reasoning: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RCA and fix generation are grounded in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retrieved evidence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(actual logs, diffs, dependency data) rather than free-form generation, reducing hallucination risk.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 Verification: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proposed fix is validated by an actual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sandboxed rerun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failed stage — correctness is confirmed by execution, not by LLM confidence.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Schema-Validated Outputs: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Classifier and RCA outputs follow a fixed structured schema (label, faulty component, confidence), so downstream stages can reliably act on them.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Human-in-the-Loop Gate: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 approval remains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human-gated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default; the system proposes and verifies, minimizing — not eliminating — human intervention.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Plan: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tests per module (classifier, RCA engine, fix generator), integration tests across the full pipeline, and system-level validation against the 30–50 case benchmark.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Dept. of AI &amp; DS | PWP-I | Batch - 10 | Second review |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3F001-7C6F-4E01-BC69-D7191FDDFE22}" type="datetime1">
              <a:rPr lang="en-IN" smtClean="0"/>
            </a:fld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</a:fld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0408" y="0"/>
            <a:ext cx="2121592" cy="62184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Criteria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76872"/>
            <a:ext cx="11017898" cy="4779477"/>
          </a:xfrm>
        </p:spPr>
        <p:txBody>
          <a:bodyPr>
            <a:normAutofit fontScale="60000" lnSpcReduction="20000"/>
          </a:bodyPr>
          <a:lstStyle/>
          <a:p>
            <a:pPr>
              <a:lnSpc>
                <a:spcPct val="12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Accuracy: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≥ 85%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correct flaky-vs-real classification on labeled test pipelines; tracked with precision/recall to avoid over-flagging real faults as flaky.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Diagnostic Efficiency (MTTD):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Time to Diagnosis reduced from hours to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5 minutes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 failure —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90%+ reduction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versus manual log analysis.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Root Cause Localization Quality: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Top-1 and Top-3 accuracy of the RCA engine in identifying the correct faulty stage/component, validated against ground-truth incident records.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 Verification Success Rate: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Proportion of generated fixes that pass the sandboxed rerun on the first attempt, without further human correction.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Coverage: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 evaluated across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30–50 real CI/CD failure cases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drawn from open-source pipelines, spanning flaky tests, config drift, and code regressions.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Impact: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Reduction in engineering hours spent on manual RCA, and improvement in release velocity (fewer delayed merges).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Dept. of AI &amp; DS | PWP-I | Batch - 10 | Second review |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3F001-7C6F-4E01-BC69-D7191FDDFE22}" type="datetime1">
              <a:rPr lang="en-IN" smtClean="0"/>
            </a:fld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</a:fld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0408" y="0"/>
            <a:ext cx="2121592" cy="62184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and Planning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76872"/>
            <a:ext cx="11017898" cy="4779477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Feasibility: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entirely on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Python, an LLM API (Claude), and standard CI/CD tooling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(Jenkins/GitHub Actions, Prometheus/Grafana) — no custom infrastructure required.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 Feasibility: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Estimated cost of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₹6,000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(LLM API credits, cloud hosting, documentation), largely covered by free/open-source tools and student cloud credits.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Feasibility: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alongside existing pipelines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a webhook-triggered service — no disruption to current CI/CD workflows or team processes.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Planning for Next Phase: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Weeks 1–3: finalize log preprocessing and failure classifier.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Weeks 4–6: integrate RCA engine and fix generator with sandbox verification.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Weeks 7–8: full-pipeline testing, benchmarking, and documentation for Phase-II review.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Dept. of AI &amp; DS | PWP-I | Batch - 10 | Second review |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3F001-7C6F-4E01-BC69-D7191FDDFE22}" type="datetime1">
              <a:rPr lang="en-IN" smtClean="0"/>
            </a:fld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</a:fld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0408" y="0"/>
            <a:ext cx="2121592" cy="62184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Time frame/ Schedule for completion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39320" y="1765333"/>
          <a:ext cx="12052680" cy="4470010"/>
        </p:xfrm>
        <a:graphic>
          <a:graphicData uri="http://schemas.openxmlformats.org/drawingml/2006/table">
            <a:tbl>
              <a:tblPr/>
              <a:tblGrid>
                <a:gridCol w="2705480"/>
                <a:gridCol w="1168400"/>
                <a:gridCol w="1168400"/>
                <a:gridCol w="1168400"/>
                <a:gridCol w="1168400"/>
                <a:gridCol w="1168400"/>
                <a:gridCol w="1168400"/>
                <a:gridCol w="1168400"/>
                <a:gridCol w="1168400"/>
              </a:tblGrid>
              <a:tr h="166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Task</a:t>
                      </a:r>
                      <a:endParaRPr lang="en-IN" sz="800"/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 b="1"/>
                        <a:t>Week 1</a:t>
                      </a:r>
                      <a:endParaRPr lang="en-IN" sz="800"/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 b="1"/>
                        <a:t>Week 2</a:t>
                      </a:r>
                      <a:endParaRPr lang="en-IN" sz="800"/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 b="1"/>
                        <a:t>Week 3</a:t>
                      </a:r>
                      <a:endParaRPr lang="en-IN" sz="800"/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 b="1"/>
                        <a:t>Week 4</a:t>
                      </a:r>
                      <a:endParaRPr lang="en-IN" sz="800"/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 b="1"/>
                        <a:t>Week 5</a:t>
                      </a:r>
                      <a:endParaRPr lang="en-IN" sz="800"/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 b="1"/>
                        <a:t>Week 6</a:t>
                      </a:r>
                      <a:endParaRPr lang="en-IN" sz="800"/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 b="1"/>
                        <a:t>Week 7</a:t>
                      </a:r>
                      <a:endParaRPr lang="en-IN" sz="800"/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 b="1"/>
                        <a:t>Week 8</a:t>
                      </a:r>
                      <a:endParaRPr lang="en-IN" sz="800"/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620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Requirement Analysis &amp; Literature Review</a:t>
                      </a:r>
                      <a:endParaRPr lang="en-IN" sz="1200" dirty="0"/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/>
                        <a:t>███</a:t>
                      </a:r>
                      <a:endParaRPr lang="en-IN" sz="800"/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/>
                        <a:t>███</a:t>
                      </a:r>
                      <a:endParaRPr lang="en-IN" sz="800"/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 dirty="0"/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79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System Design &amp; Architecture</a:t>
                      </a:r>
                      <a:endParaRPr lang="en-IN" sz="1200" dirty="0"/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/>
                        <a:t>███</a:t>
                      </a:r>
                      <a:endParaRPr lang="en-IN" sz="800"/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/>
                        <a:t>███</a:t>
                      </a:r>
                      <a:endParaRPr lang="en-IN" sz="800"/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79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Log Preprocessing Module</a:t>
                      </a:r>
                      <a:endParaRPr lang="en-IN" sz="1200" dirty="0"/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/>
                        <a:t>███</a:t>
                      </a:r>
                      <a:endParaRPr lang="en-IN" sz="800"/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/>
                        <a:t>███</a:t>
                      </a:r>
                      <a:endParaRPr lang="en-IN" sz="800"/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/>
                        <a:t>███</a:t>
                      </a:r>
                      <a:endParaRPr lang="en-IN" sz="800"/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620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Failure Classifier (Flaky vs. Real)</a:t>
                      </a:r>
                      <a:endParaRPr lang="en-IN" sz="1200" dirty="0"/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/>
                        <a:t>███</a:t>
                      </a:r>
                      <a:endParaRPr lang="en-IN" sz="800"/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/>
                        <a:t>███</a:t>
                      </a:r>
                      <a:endParaRPr lang="en-IN" sz="800"/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/>
                        <a:t>███</a:t>
                      </a:r>
                      <a:endParaRPr lang="en-IN" sz="800"/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/>
                        <a:t>███</a:t>
                      </a:r>
                      <a:endParaRPr lang="en-IN" sz="800"/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3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RCA Engine (LLM Integration)</a:t>
                      </a:r>
                      <a:endParaRPr lang="en-IN" sz="1200" dirty="0"/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/>
                        <a:t>███</a:t>
                      </a:r>
                      <a:endParaRPr lang="en-IN" sz="800"/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/>
                        <a:t>███</a:t>
                      </a:r>
                      <a:endParaRPr lang="en-IN" sz="800"/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/>
                        <a:t>███</a:t>
                      </a:r>
                      <a:endParaRPr lang="en-IN" sz="800"/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620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Fix Generator &amp; Sandbox Verification</a:t>
                      </a:r>
                      <a:endParaRPr lang="en-IN" sz="1200" dirty="0"/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/>
                        <a:t>███</a:t>
                      </a:r>
                      <a:endParaRPr lang="en-IN" sz="800"/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/>
                        <a:t>███</a:t>
                      </a:r>
                      <a:endParaRPr lang="en-IN" sz="800"/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/>
                        <a:t>███</a:t>
                      </a:r>
                      <a:endParaRPr lang="en-IN" sz="800"/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96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Testing &amp; Bug Fixes</a:t>
                      </a:r>
                      <a:endParaRPr lang="en-IN" sz="1200" dirty="0"/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/>
                        <a:t>███</a:t>
                      </a:r>
                      <a:endParaRPr lang="en-IN" sz="800"/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/>
                        <a:t>███</a:t>
                      </a:r>
                      <a:endParaRPr lang="en-IN" sz="800"/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79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Documentation &amp; Phase-1 Review</a:t>
                      </a:r>
                      <a:endParaRPr lang="en-IN" sz="1200" dirty="0"/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/>
                        <a:t>███</a:t>
                      </a:r>
                      <a:endParaRPr lang="en-IN" sz="800"/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 dirty="0"/>
                        <a:t>███</a:t>
                      </a:r>
                      <a:endParaRPr lang="en-IN" sz="800" dirty="0"/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Dept. of AI &amp; DS | PWP-I | Batch - 10 | First review |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BF114-833B-458C-87F0-80E2AAB1BDF0}" type="datetime1">
              <a:rPr lang="en-IN" smtClean="0"/>
            </a:fld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</a:fld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0408" y="0"/>
            <a:ext cx="2121592" cy="62184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Breakdown: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Resources Needed: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dirty="0"/>
              <a:t>Laptop/PC </a:t>
            </a:r>
            <a:endParaRPr lang="en-IN" dirty="0"/>
          </a:p>
          <a:p>
            <a:pPr lvl="1"/>
            <a:r>
              <a:rPr lang="en-IN" dirty="0"/>
              <a:t>Internet Connection </a:t>
            </a:r>
            <a:endParaRPr lang="en-IN" dirty="0"/>
          </a:p>
          <a:p>
            <a:pPr lvl="1"/>
            <a:r>
              <a:rPr lang="en-IN" dirty="0"/>
              <a:t>VS Code / PyCharm </a:t>
            </a:r>
            <a:endParaRPr lang="en-IN" dirty="0"/>
          </a:p>
          <a:p>
            <a:pPr lvl="1"/>
            <a:r>
              <a:rPr lang="en-IN" dirty="0"/>
              <a:t>Jenkins / GitHub Actions </a:t>
            </a:r>
            <a:endParaRPr lang="en-IN" dirty="0"/>
          </a:p>
          <a:p>
            <a:pPr lvl="1"/>
            <a:r>
              <a:rPr lang="en-IN" dirty="0"/>
              <a:t>LLM API (Claude) </a:t>
            </a:r>
            <a:endParaRPr lang="en-IN" dirty="0"/>
          </a:p>
          <a:p>
            <a:pPr lvl="1"/>
            <a:r>
              <a:rPr lang="en-IN" dirty="0"/>
              <a:t>Git &amp; GitHub </a:t>
            </a:r>
            <a:endParaRPr lang="en-IN" dirty="0"/>
          </a:p>
          <a:p>
            <a:pPr lvl="1"/>
            <a:r>
              <a:rPr lang="en-IN" dirty="0"/>
              <a:t>Prometheus/Grafana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Funding Sources: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dirty="0"/>
              <a:t>Self-funded </a:t>
            </a:r>
            <a:endParaRPr lang="en-IN" dirty="0"/>
          </a:p>
          <a:p>
            <a:pPr lvl="1"/>
            <a:r>
              <a:rPr lang="en-IN" dirty="0"/>
              <a:t>College Project Support (if available) </a:t>
            </a:r>
            <a:endParaRPr lang="en-IN" dirty="0"/>
          </a:p>
          <a:p>
            <a:pPr lvl="1"/>
            <a:r>
              <a:rPr lang="en-IN" dirty="0"/>
              <a:t>Free/Open-Source Tools </a:t>
            </a:r>
            <a:endParaRPr lang="en-IN" dirty="0"/>
          </a:p>
          <a:p>
            <a:pPr lvl="1"/>
            <a:r>
              <a:rPr lang="en-IN" dirty="0"/>
              <a:t>Free Cloud Credits (GitHub Student Pack)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Dept. of AI &amp; DS | PWP-I | Batch - 10 | First review |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38F52-0C91-47BD-AD06-93C7C54ACFC0}" type="datetime1">
              <a:rPr lang="en-IN" smtClean="0"/>
            </a:fld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</a:fld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0408" y="0"/>
            <a:ext cx="2121592" cy="62184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94574" y="1681178"/>
          <a:ext cx="5778326" cy="3875193"/>
        </p:xfrm>
        <a:graphic>
          <a:graphicData uri="http://schemas.openxmlformats.org/drawingml/2006/table">
            <a:tbl>
              <a:tblPr/>
              <a:tblGrid>
                <a:gridCol w="2889163"/>
                <a:gridCol w="2889163"/>
              </a:tblGrid>
              <a:tr h="3476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Item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Estimated Cost (₹)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83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Development Tools (Jenkins, Python)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Free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76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Monitoring Stack (Prometheus/Grafana)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Free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78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LLM API Credits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2,000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78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Cloud Hosting (AWS/Render)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2,000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78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Domain Name (Optional)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1,000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78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Documentation &amp; Miscellaneous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1,000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76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Total Estimated Cost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 dirty="0"/>
                        <a:t>₹6,000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23527"/>
            <a:ext cx="10515600" cy="4553436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Results: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LLM-powered system that automatically detects CI/CD pipeline failures, diagnoses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root cause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generates a verified fix with minimal manual effort</a:t>
            </a:r>
            <a:r>
              <a:rPr lang="en-IN" dirty="0"/>
              <a:t>.</a:t>
            </a:r>
            <a:endParaRPr lang="en-IN" dirty="0"/>
          </a:p>
          <a:p>
            <a:pPr>
              <a:lnSpc>
                <a:spcPct val="12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log-analysis time and repetitive re-diagnosis of recurring failures.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release velocity by cutting Mean Time to Diagnosis and Repair.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Frees engineering time from routine failure triage to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development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engineering teams and DevOps groups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Organizations running microservice-based CI/CD pipelines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SRE and platform engineering teams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Dept. of AI &amp; DS | PWP-I | Batch - 10 | First review |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3FE89-6A08-49E8-AA9E-187CB465A220}" type="datetime1">
              <a:rPr lang="en-IN" smtClean="0"/>
            </a:fld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</a:fld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0408" y="0"/>
            <a:ext cx="2121592" cy="62184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Reference(s)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Citations: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dirty="0"/>
              <a:t>Xu et al., “LogSage: An LLM-Based Framework for CI/CD Failure Detection and Remediation,” IEEE/ACM ASE 2025. </a:t>
            </a:r>
            <a:endParaRPr lang="en-IN" dirty="0"/>
          </a:p>
          <a:p>
            <a:pPr lvl="1"/>
            <a:r>
              <a:rPr lang="en-IN" dirty="0"/>
              <a:t>Aïdasso et al., “On the Diagnosis of Flaky Job Failures,” IEEE/ACM ICSE-SEIP 2025. </a:t>
            </a:r>
            <a:endParaRPr lang="en-IN" dirty="0"/>
          </a:p>
          <a:p>
            <a:pPr lvl="1"/>
            <a:r>
              <a:rPr lang="en-IN" dirty="0"/>
              <a:t>Cui et al., “PRAXIS: Integrating Program Analysis with Observability for RCA,” IEEE/IFIP DSN 2026. </a:t>
            </a:r>
            <a:endParaRPr lang="en-IN" dirty="0"/>
          </a:p>
          <a:p>
            <a:pPr lvl="1"/>
            <a:r>
              <a:rPr lang="en-IN" dirty="0"/>
              <a:t>“An AI-Powered Pipeline for Enabling Self-Healing in Software Systems,” IEEE Xplore. </a:t>
            </a:r>
            <a:endParaRPr lang="en-IN" dirty="0"/>
          </a:p>
          <a:p>
            <a:pPr lvl="1"/>
            <a:r>
              <a:rPr lang="en-IN" dirty="0"/>
              <a:t>MicroRCA — IEEE/IFIP NOMS 2020. </a:t>
            </a:r>
            <a:endParaRPr lang="en-IN" dirty="0"/>
          </a:p>
          <a:p>
            <a:pPr lvl="1"/>
            <a:r>
              <a:rPr lang="en-IN" dirty="0"/>
              <a:t>COCA: Generative Root Cause Analysis, IEEE/ACM ICSE 2025.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Further Reading: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dirty="0"/>
              <a:t>Shahin, Babar, Zhu — CI/CD Systematic Review, IEEE Access 2017 </a:t>
            </a:r>
            <a:endParaRPr lang="en-IN" dirty="0"/>
          </a:p>
          <a:p>
            <a:pPr lvl="1"/>
            <a:r>
              <a:rPr lang="en-IN" dirty="0"/>
              <a:t>LLM Context Rot / Long-Context Degradation Studies </a:t>
            </a:r>
            <a:endParaRPr lang="en-IN" dirty="0"/>
          </a:p>
          <a:p>
            <a:pPr lvl="1"/>
            <a:r>
              <a:rPr lang="en-IN" dirty="0"/>
              <a:t>SAP HANA CI/CD Failure Management Case Study, 2026 </a:t>
            </a:r>
            <a:endParaRPr lang="en-IN" dirty="0"/>
          </a:p>
          <a:p>
            <a:pPr lvl="1"/>
            <a:r>
              <a:rPr lang="en-IN" dirty="0"/>
              <a:t>Graph-Structured Program Dependence Analysis Research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Dept. of AI &amp; DS | PWP-I | Batch - 10 | First review |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CA03E-DA93-4F08-B7E7-EDCD9FB357FD}" type="datetime1">
              <a:rPr lang="en-IN" smtClean="0"/>
            </a:fld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</a:fld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0408" y="0"/>
            <a:ext cx="2121592" cy="62184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Results/Outputs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AEE49-49E5-4D0F-9950-7B0F2EF6B029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| Dept. of AI &amp; DS | PWP-I | Batch - 10 | First review | </a:t>
            </a:r>
            <a:endParaRPr lang="en-IN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</a:fld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0408" y="0"/>
            <a:ext cx="2121592" cy="621846"/>
          </a:xfrm>
          <a:prstGeom prst="rect">
            <a:avLst/>
          </a:prstGeom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200" y="1620361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Results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end-to-end diagnosis of CI/CD pipeline failures. 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separation of flaky vs. real failures before RCA effort is spent. 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manual log-reading effort and faster failure resolution. 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LLM-generated, sandbox-verified fix recommendations.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Outputs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351384" y="3796030"/>
          <a:ext cx="10515600" cy="2560320"/>
        </p:xfrm>
        <a:graphic>
          <a:graphicData uri="http://schemas.openxmlformats.org/drawingml/2006/table">
            <a:tbl>
              <a:tblPr/>
              <a:tblGrid>
                <a:gridCol w="5257800"/>
                <a:gridCol w="5257800"/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Output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Description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Failure Classification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Flags failure as Flaky or Real.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Root Cause Report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Identifies the likely faulty stage/component.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Fix Suggestion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Proposes a concrete config/code fix.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Verification Result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Sandbox rerun pass/fail before merge.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MTTD/MTTR Metrics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Tracks diagnosis and repair time saved.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Deployment Log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Records the final merge/alert decision.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0</TotalTime>
  <Words>11516</Words>
  <Application>WPS Presentation</Application>
  <PresentationFormat>Widescreen</PresentationFormat>
  <Paragraphs>415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6" baseType="lpstr">
      <vt:lpstr>Arial</vt:lpstr>
      <vt:lpstr>SimSun</vt:lpstr>
      <vt:lpstr>Wingdings</vt:lpstr>
      <vt:lpstr>Times New Roman</vt:lpstr>
      <vt:lpstr>Tahoma</vt:lpstr>
      <vt:lpstr>Calibri</vt:lpstr>
      <vt:lpstr>Microsoft YaHei</vt:lpstr>
      <vt:lpstr>Arial Unicode MS</vt:lpstr>
      <vt:lpstr>Calibri Light</vt:lpstr>
      <vt:lpstr>Office Theme</vt:lpstr>
      <vt:lpstr>PowerPoint 演示文稿</vt:lpstr>
      <vt:lpstr>Problem Statement(s)</vt:lpstr>
      <vt:lpstr>Objective(s)</vt:lpstr>
      <vt:lpstr>Concept Development and Innovation</vt:lpstr>
      <vt:lpstr>System Architecture</vt:lpstr>
      <vt:lpstr>Flow Diagram</vt:lpstr>
      <vt:lpstr>Methodology</vt:lpstr>
      <vt:lpstr>Design Justification</vt:lpstr>
      <vt:lpstr>Design Correctness / Methodology</vt:lpstr>
      <vt:lpstr>Evaluation Criteria</vt:lpstr>
      <vt:lpstr>Feasibility and Planning</vt:lpstr>
      <vt:lpstr>Time frame/ Schedule for completion</vt:lpstr>
      <vt:lpstr>Budget</vt:lpstr>
      <vt:lpstr>Expected Outcomes</vt:lpstr>
      <vt:lpstr>Reference(s)</vt:lpstr>
      <vt:lpstr>Results/Outputs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Kaalei Muthoo</dc:creator>
  <cp:lastModifiedBy>sabar</cp:lastModifiedBy>
  <cp:revision>22</cp:revision>
  <dcterms:created xsi:type="dcterms:W3CDTF">2024-07-29T08:43:00Z</dcterms:created>
  <dcterms:modified xsi:type="dcterms:W3CDTF">2026-08-06T05:34:03Z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8274C0337905427697141193A00A5DAB_13</vt:lpwstr>
  </property>
  <property fmtid="{D5CDD505-2E9C-101B-9397-08002B2CF9AE}" pid="3" name="KSOProductBuildVer">
    <vt:lpwstr>1033-12.1.0.28032</vt:lpwstr>
  </property>
</Properties>
</file>